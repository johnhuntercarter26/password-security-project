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98120-240A-4B32-B77C-C5B17EE41399}" v="50" dt="2025-03-18T11:06:10.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1" d="100"/>
          <a:sy n="11" d="100"/>
        </p:scale>
        <p:origin x="176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er Carter" userId="6e9f682fbf2e0608" providerId="LiveId" clId="{53198120-240A-4B32-B77C-C5B17EE41399}"/>
    <pc:docChg chg="undo custSel modSld modMainMaster">
      <pc:chgData name="Hunter Carter" userId="6e9f682fbf2e0608" providerId="LiveId" clId="{53198120-240A-4B32-B77C-C5B17EE41399}" dt="2025-03-18T11:09:41.249" v="5480" actId="113"/>
      <pc:docMkLst>
        <pc:docMk/>
      </pc:docMkLst>
      <pc:sldChg chg="addSp delSp modSp mod">
        <pc:chgData name="Hunter Carter" userId="6e9f682fbf2e0608" providerId="LiveId" clId="{53198120-240A-4B32-B77C-C5B17EE41399}" dt="2025-03-18T11:09:41.249" v="5480" actId="113"/>
        <pc:sldMkLst>
          <pc:docMk/>
          <pc:sldMk cId="4080486273" sldId="256"/>
        </pc:sldMkLst>
        <pc:spChg chg="add del mod">
          <ac:chgData name="Hunter Carter" userId="6e9f682fbf2e0608" providerId="LiveId" clId="{53198120-240A-4B32-B77C-C5B17EE41399}" dt="2025-03-18T10:56:23.510" v="4447" actId="122"/>
          <ac:spMkLst>
            <pc:docMk/>
            <pc:sldMk cId="4080486273" sldId="256"/>
            <ac:spMk id="6" creationId="{461E5927-7903-DAB4-B521-F5EC81AD6B5E}"/>
          </ac:spMkLst>
        </pc:spChg>
        <pc:spChg chg="add del mod">
          <ac:chgData name="Hunter Carter" userId="6e9f682fbf2e0608" providerId="LiveId" clId="{53198120-240A-4B32-B77C-C5B17EE41399}" dt="2025-03-17T23:42:04.681" v="342" actId="21"/>
          <ac:spMkLst>
            <pc:docMk/>
            <pc:sldMk cId="4080486273" sldId="256"/>
            <ac:spMk id="7" creationId="{FAF78048-B7CC-C09C-C8F5-3380E35876CC}"/>
          </ac:spMkLst>
        </pc:spChg>
        <pc:spChg chg="add del mod">
          <ac:chgData name="Hunter Carter" userId="6e9f682fbf2e0608" providerId="LiveId" clId="{53198120-240A-4B32-B77C-C5B17EE41399}" dt="2025-03-17T23:41:50.742" v="340" actId="21"/>
          <ac:spMkLst>
            <pc:docMk/>
            <pc:sldMk cId="4080486273" sldId="256"/>
            <ac:spMk id="8" creationId="{9CF29B79-A8FC-92E0-81F7-27409B4442EB}"/>
          </ac:spMkLst>
        </pc:spChg>
        <pc:spChg chg="add mod">
          <ac:chgData name="Hunter Carter" userId="6e9f682fbf2e0608" providerId="LiveId" clId="{53198120-240A-4B32-B77C-C5B17EE41399}" dt="2025-03-18T11:03:49.069" v="5127" actId="20577"/>
          <ac:spMkLst>
            <pc:docMk/>
            <pc:sldMk cId="4080486273" sldId="256"/>
            <ac:spMk id="9" creationId="{A1BBC5F2-0BA8-21A7-C5FE-E791F460BEEC}"/>
          </ac:spMkLst>
        </pc:spChg>
        <pc:spChg chg="add del">
          <ac:chgData name="Hunter Carter" userId="6e9f682fbf2e0608" providerId="LiveId" clId="{53198120-240A-4B32-B77C-C5B17EE41399}" dt="2025-03-17T23:24:10.514" v="198" actId="22"/>
          <ac:spMkLst>
            <pc:docMk/>
            <pc:sldMk cId="4080486273" sldId="256"/>
            <ac:spMk id="11" creationId="{0677C263-8063-AB07-45F5-EE8FFD4E6858}"/>
          </ac:spMkLst>
        </pc:spChg>
        <pc:spChg chg="add del mod">
          <ac:chgData name="Hunter Carter" userId="6e9f682fbf2e0608" providerId="LiveId" clId="{53198120-240A-4B32-B77C-C5B17EE41399}" dt="2025-03-17T23:38:57.824" v="326" actId="21"/>
          <ac:spMkLst>
            <pc:docMk/>
            <pc:sldMk cId="4080486273" sldId="256"/>
            <ac:spMk id="12" creationId="{BF5BE4F9-4D00-0EEA-24CF-2881F2EA1DD4}"/>
          </ac:spMkLst>
        </pc:spChg>
        <pc:spChg chg="add">
          <ac:chgData name="Hunter Carter" userId="6e9f682fbf2e0608" providerId="LiveId" clId="{53198120-240A-4B32-B77C-C5B17EE41399}" dt="2025-03-17T23:36:08.344" v="307"/>
          <ac:spMkLst>
            <pc:docMk/>
            <pc:sldMk cId="4080486273" sldId="256"/>
            <ac:spMk id="13" creationId="{4DFB35CC-7D5F-275F-4C34-8293EECB07C0}"/>
          </ac:spMkLst>
        </pc:spChg>
        <pc:spChg chg="add">
          <ac:chgData name="Hunter Carter" userId="6e9f682fbf2e0608" providerId="LiveId" clId="{53198120-240A-4B32-B77C-C5B17EE41399}" dt="2025-03-17T23:36:35.830" v="311"/>
          <ac:spMkLst>
            <pc:docMk/>
            <pc:sldMk cId="4080486273" sldId="256"/>
            <ac:spMk id="14" creationId="{FF89A226-35C3-3705-0FD6-A29C0AB55624}"/>
          </ac:spMkLst>
        </pc:spChg>
        <pc:spChg chg="add del mod">
          <ac:chgData name="Hunter Carter" userId="6e9f682fbf2e0608" providerId="LiveId" clId="{53198120-240A-4B32-B77C-C5B17EE41399}" dt="2025-03-17T23:38:55.463" v="325" actId="21"/>
          <ac:spMkLst>
            <pc:docMk/>
            <pc:sldMk cId="4080486273" sldId="256"/>
            <ac:spMk id="15" creationId="{D0240065-A8BA-8375-9CD6-7A9A3DFFD640}"/>
          </ac:spMkLst>
        </pc:spChg>
        <pc:spChg chg="add mod">
          <ac:chgData name="Hunter Carter" userId="6e9f682fbf2e0608" providerId="LiveId" clId="{53198120-240A-4B32-B77C-C5B17EE41399}" dt="2025-03-18T10:53:25.095" v="4417" actId="113"/>
          <ac:spMkLst>
            <pc:docMk/>
            <pc:sldMk cId="4080486273" sldId="256"/>
            <ac:spMk id="16" creationId="{0F63A0EB-3CFE-5D28-F8F4-D92CB08E5248}"/>
          </ac:spMkLst>
        </pc:spChg>
        <pc:spChg chg="add mod">
          <ac:chgData name="Hunter Carter" userId="6e9f682fbf2e0608" providerId="LiveId" clId="{53198120-240A-4B32-B77C-C5B17EE41399}" dt="2025-03-18T11:05:42.402" v="5211" actId="20577"/>
          <ac:spMkLst>
            <pc:docMk/>
            <pc:sldMk cId="4080486273" sldId="256"/>
            <ac:spMk id="17" creationId="{3D4F60E7-4497-4960-8314-1A6DE08ABA92}"/>
          </ac:spMkLst>
        </pc:spChg>
        <pc:spChg chg="add mod">
          <ac:chgData name="Hunter Carter" userId="6e9f682fbf2e0608" providerId="LiveId" clId="{53198120-240A-4B32-B77C-C5B17EE41399}" dt="2025-03-18T11:04:56.927" v="5140" actId="1076"/>
          <ac:spMkLst>
            <pc:docMk/>
            <pc:sldMk cId="4080486273" sldId="256"/>
            <ac:spMk id="21" creationId="{6B6A456D-396A-A9E0-E077-A1AFF5188089}"/>
          </ac:spMkLst>
        </pc:spChg>
        <pc:spChg chg="add mod">
          <ac:chgData name="Hunter Carter" userId="6e9f682fbf2e0608" providerId="LiveId" clId="{53198120-240A-4B32-B77C-C5B17EE41399}" dt="2025-03-18T10:58:50.726" v="4469" actId="207"/>
          <ac:spMkLst>
            <pc:docMk/>
            <pc:sldMk cId="4080486273" sldId="256"/>
            <ac:spMk id="26" creationId="{5D167595-605F-87E4-6AF3-8DC09751835B}"/>
          </ac:spMkLst>
        </pc:spChg>
        <pc:spChg chg="add mod ord">
          <ac:chgData name="Hunter Carter" userId="6e9f682fbf2e0608" providerId="LiveId" clId="{53198120-240A-4B32-B77C-C5B17EE41399}" dt="2025-03-18T10:58:41.262" v="4468" actId="167"/>
          <ac:spMkLst>
            <pc:docMk/>
            <pc:sldMk cId="4080486273" sldId="256"/>
            <ac:spMk id="41" creationId="{D8FCCE4E-7355-6D97-8045-F2F8F4AAD4C1}"/>
          </ac:spMkLst>
        </pc:spChg>
        <pc:spChg chg="add mod">
          <ac:chgData name="Hunter Carter" userId="6e9f682fbf2e0608" providerId="LiveId" clId="{53198120-240A-4B32-B77C-C5B17EE41399}" dt="2025-03-18T11:09:41.249" v="5480" actId="113"/>
          <ac:spMkLst>
            <pc:docMk/>
            <pc:sldMk cId="4080486273" sldId="256"/>
            <ac:spMk id="42" creationId="{66624AD7-ED5D-06FC-EF72-1968DCD3D65C}"/>
          </ac:spMkLst>
        </pc:spChg>
        <pc:graphicFrameChg chg="add del mod modGraphic">
          <ac:chgData name="Hunter Carter" userId="6e9f682fbf2e0608" providerId="LiveId" clId="{53198120-240A-4B32-B77C-C5B17EE41399}" dt="2025-03-18T01:57:33.961" v="2281" actId="21"/>
          <ac:graphicFrameMkLst>
            <pc:docMk/>
            <pc:sldMk cId="4080486273" sldId="256"/>
            <ac:graphicFrameMk id="18" creationId="{07E86056-DD2D-7B10-4413-65CB123FEC95}"/>
          </ac:graphicFrameMkLst>
        </pc:graphicFrameChg>
        <pc:graphicFrameChg chg="add del mod modGraphic">
          <ac:chgData name="Hunter Carter" userId="6e9f682fbf2e0608" providerId="LiveId" clId="{53198120-240A-4B32-B77C-C5B17EE41399}" dt="2025-03-18T01:58:00.251" v="2303" actId="21"/>
          <ac:graphicFrameMkLst>
            <pc:docMk/>
            <pc:sldMk cId="4080486273" sldId="256"/>
            <ac:graphicFrameMk id="19" creationId="{02ECE61C-DB3B-68C9-A931-5F7D966FA7DE}"/>
          </ac:graphicFrameMkLst>
        </pc:graphicFrameChg>
        <pc:graphicFrameChg chg="add del mod modGraphic">
          <ac:chgData name="Hunter Carter" userId="6e9f682fbf2e0608" providerId="LiveId" clId="{53198120-240A-4B32-B77C-C5B17EE41399}" dt="2025-03-18T02:29:22.667" v="4046" actId="21"/>
          <ac:graphicFrameMkLst>
            <pc:docMk/>
            <pc:sldMk cId="4080486273" sldId="256"/>
            <ac:graphicFrameMk id="20" creationId="{94447BD3-D57B-FBEF-B8D0-10C64CA01B04}"/>
          </ac:graphicFrameMkLst>
        </pc:graphicFrameChg>
        <pc:graphicFrameChg chg="add del mod">
          <ac:chgData name="Hunter Carter" userId="6e9f682fbf2e0608" providerId="LiveId" clId="{53198120-240A-4B32-B77C-C5B17EE41399}" dt="2025-03-18T02:38:52.263" v="4222" actId="478"/>
          <ac:graphicFrameMkLst>
            <pc:docMk/>
            <pc:sldMk cId="4080486273" sldId="256"/>
            <ac:graphicFrameMk id="27" creationId="{6ADF0D20-E840-EC2D-D769-D54A4EE74991}"/>
          </ac:graphicFrameMkLst>
        </pc:graphicFrameChg>
        <pc:graphicFrameChg chg="add del mod">
          <ac:chgData name="Hunter Carter" userId="6e9f682fbf2e0608" providerId="LiveId" clId="{53198120-240A-4B32-B77C-C5B17EE41399}" dt="2025-03-18T02:38:13.306" v="4218" actId="21"/>
          <ac:graphicFrameMkLst>
            <pc:docMk/>
            <pc:sldMk cId="4080486273" sldId="256"/>
            <ac:graphicFrameMk id="30" creationId="{59BCBA0B-0D5A-6D8F-430B-BEC45E0E0546}"/>
          </ac:graphicFrameMkLst>
        </pc:graphicFrameChg>
        <pc:picChg chg="add mod">
          <ac:chgData name="Hunter Carter" userId="6e9f682fbf2e0608" providerId="LiveId" clId="{53198120-240A-4B32-B77C-C5B17EE41399}" dt="2025-03-18T10:58:12.159" v="4463" actId="1076"/>
          <ac:picMkLst>
            <pc:docMk/>
            <pc:sldMk cId="4080486273" sldId="256"/>
            <ac:picMk id="23" creationId="{D7A4FBF3-7A23-E778-6233-DF8A4FAA78D3}"/>
          </ac:picMkLst>
        </pc:picChg>
        <pc:picChg chg="add del mod">
          <ac:chgData name="Hunter Carter" userId="6e9f682fbf2e0608" providerId="LiveId" clId="{53198120-240A-4B32-B77C-C5B17EE41399}" dt="2025-03-18T02:28:23.742" v="4030" actId="21"/>
          <ac:picMkLst>
            <pc:docMk/>
            <pc:sldMk cId="4080486273" sldId="256"/>
            <ac:picMk id="25" creationId="{925A4C8D-A2C6-F9BD-6A44-6347592F434A}"/>
          </ac:picMkLst>
        </pc:picChg>
        <pc:picChg chg="add del mod">
          <ac:chgData name="Hunter Carter" userId="6e9f682fbf2e0608" providerId="LiveId" clId="{53198120-240A-4B32-B77C-C5B17EE41399}" dt="2025-03-18T10:51:32.222" v="4317" actId="21"/>
          <ac:picMkLst>
            <pc:docMk/>
            <pc:sldMk cId="4080486273" sldId="256"/>
            <ac:picMk id="32" creationId="{03BCB229-A646-5E7C-065D-AEB1BD95051B}"/>
          </ac:picMkLst>
        </pc:picChg>
        <pc:picChg chg="add mod">
          <ac:chgData name="Hunter Carter" userId="6e9f682fbf2e0608" providerId="LiveId" clId="{53198120-240A-4B32-B77C-C5B17EE41399}" dt="2025-03-18T10:58:02.574" v="4461" actId="1076"/>
          <ac:picMkLst>
            <pc:docMk/>
            <pc:sldMk cId="4080486273" sldId="256"/>
            <ac:picMk id="34" creationId="{524B7D29-55FC-A071-EFDC-247449664DEE}"/>
          </ac:picMkLst>
        </pc:picChg>
        <pc:picChg chg="add del mod">
          <ac:chgData name="Hunter Carter" userId="6e9f682fbf2e0608" providerId="LiveId" clId="{53198120-240A-4B32-B77C-C5B17EE41399}" dt="2025-03-18T10:55:07.006" v="4439" actId="21"/>
          <ac:picMkLst>
            <pc:docMk/>
            <pc:sldMk cId="4080486273" sldId="256"/>
            <ac:picMk id="36" creationId="{D24ADA68-991E-38E5-F5B1-6B1CF9183B39}"/>
          </ac:picMkLst>
        </pc:picChg>
        <pc:picChg chg="add mod">
          <ac:chgData name="Hunter Carter" userId="6e9f682fbf2e0608" providerId="LiveId" clId="{53198120-240A-4B32-B77C-C5B17EE41399}" dt="2025-03-18T10:56:41.501" v="4451" actId="1076"/>
          <ac:picMkLst>
            <pc:docMk/>
            <pc:sldMk cId="4080486273" sldId="256"/>
            <ac:picMk id="38" creationId="{3FF04A7A-E966-23AE-7E6E-227526AC293D}"/>
          </ac:picMkLst>
        </pc:picChg>
        <pc:picChg chg="add mod">
          <ac:chgData name="Hunter Carter" userId="6e9f682fbf2e0608" providerId="LiveId" clId="{53198120-240A-4B32-B77C-C5B17EE41399}" dt="2025-03-18T10:57:30.850" v="4455" actId="1076"/>
          <ac:picMkLst>
            <pc:docMk/>
            <pc:sldMk cId="4080486273" sldId="256"/>
            <ac:picMk id="40" creationId="{95C74D5D-FF30-9CF6-B5C9-54AA20E561B5}"/>
          </ac:picMkLst>
        </pc:picChg>
      </pc:sldChg>
      <pc:sldMasterChg chg="modSp modSldLayout">
        <pc:chgData name="Hunter Carter" userId="6e9f682fbf2e0608" providerId="LiveId" clId="{53198120-240A-4B32-B77C-C5B17EE41399}" dt="2025-03-17T23:14:01.712" v="1"/>
        <pc:sldMasterMkLst>
          <pc:docMk/>
          <pc:sldMasterMk cId="2320413055" sldId="2147483672"/>
        </pc:sldMasterMkLst>
        <pc:spChg chg="mod">
          <ac:chgData name="Hunter Carter" userId="6e9f682fbf2e0608" providerId="LiveId" clId="{53198120-240A-4B32-B77C-C5B17EE41399}" dt="2025-03-17T23:14:01.712" v="1"/>
          <ac:spMkLst>
            <pc:docMk/>
            <pc:sldMasterMk cId="2320413055" sldId="2147483672"/>
            <ac:spMk id="2" creationId="{00000000-0000-0000-0000-000000000000}"/>
          </ac:spMkLst>
        </pc:spChg>
        <pc:spChg chg="mod">
          <ac:chgData name="Hunter Carter" userId="6e9f682fbf2e0608" providerId="LiveId" clId="{53198120-240A-4B32-B77C-C5B17EE41399}" dt="2025-03-17T23:14:01.712" v="1"/>
          <ac:spMkLst>
            <pc:docMk/>
            <pc:sldMasterMk cId="2320413055" sldId="2147483672"/>
            <ac:spMk id="3" creationId="{00000000-0000-0000-0000-000000000000}"/>
          </ac:spMkLst>
        </pc:spChg>
        <pc:spChg chg="mod">
          <ac:chgData name="Hunter Carter" userId="6e9f682fbf2e0608" providerId="LiveId" clId="{53198120-240A-4B32-B77C-C5B17EE41399}" dt="2025-03-17T23:14:01.712" v="1"/>
          <ac:spMkLst>
            <pc:docMk/>
            <pc:sldMasterMk cId="2320413055" sldId="2147483672"/>
            <ac:spMk id="4" creationId="{00000000-0000-0000-0000-000000000000}"/>
          </ac:spMkLst>
        </pc:spChg>
        <pc:spChg chg="mod">
          <ac:chgData name="Hunter Carter" userId="6e9f682fbf2e0608" providerId="LiveId" clId="{53198120-240A-4B32-B77C-C5B17EE41399}" dt="2025-03-17T23:14:01.712" v="1"/>
          <ac:spMkLst>
            <pc:docMk/>
            <pc:sldMasterMk cId="2320413055" sldId="2147483672"/>
            <ac:spMk id="5" creationId="{00000000-0000-0000-0000-000000000000}"/>
          </ac:spMkLst>
        </pc:spChg>
        <pc:spChg chg="mod">
          <ac:chgData name="Hunter Carter" userId="6e9f682fbf2e0608" providerId="LiveId" clId="{53198120-240A-4B32-B77C-C5B17EE41399}" dt="2025-03-17T23:14:01.712" v="1"/>
          <ac:spMkLst>
            <pc:docMk/>
            <pc:sldMasterMk cId="2320413055" sldId="2147483672"/>
            <ac:spMk id="6" creationId="{00000000-0000-0000-0000-000000000000}"/>
          </ac:spMkLst>
        </pc:spChg>
        <pc:sldLayoutChg chg="modSp">
          <pc:chgData name="Hunter Carter" userId="6e9f682fbf2e0608" providerId="LiveId" clId="{53198120-240A-4B32-B77C-C5B17EE41399}" dt="2025-03-17T23:14:01.712" v="1"/>
          <pc:sldLayoutMkLst>
            <pc:docMk/>
            <pc:sldMasterMk cId="2320413055" sldId="2147483672"/>
            <pc:sldLayoutMk cId="1845361692" sldId="2147483673"/>
          </pc:sldLayoutMkLst>
          <pc:spChg chg="mod">
            <ac:chgData name="Hunter Carter" userId="6e9f682fbf2e0608" providerId="LiveId" clId="{53198120-240A-4B32-B77C-C5B17EE41399}" dt="2025-03-17T23:14:01.712" v="1"/>
            <ac:spMkLst>
              <pc:docMk/>
              <pc:sldMasterMk cId="2320413055" sldId="2147483672"/>
              <pc:sldLayoutMk cId="1845361692" sldId="2147483673"/>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1845361692" sldId="2147483673"/>
              <ac:spMk id="3"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378304948" sldId="2147483675"/>
          </pc:sldLayoutMkLst>
          <pc:spChg chg="mod">
            <ac:chgData name="Hunter Carter" userId="6e9f682fbf2e0608" providerId="LiveId" clId="{53198120-240A-4B32-B77C-C5B17EE41399}" dt="2025-03-17T23:14:01.712" v="1"/>
            <ac:spMkLst>
              <pc:docMk/>
              <pc:sldMasterMk cId="2320413055" sldId="2147483672"/>
              <pc:sldLayoutMk cId="378304948" sldId="2147483675"/>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78304948" sldId="2147483675"/>
              <ac:spMk id="3"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3550532632" sldId="2147483676"/>
          </pc:sldLayoutMkLst>
          <pc:spChg chg="mod">
            <ac:chgData name="Hunter Carter" userId="6e9f682fbf2e0608" providerId="LiveId" clId="{53198120-240A-4B32-B77C-C5B17EE41399}" dt="2025-03-17T23:14:01.712" v="1"/>
            <ac:spMkLst>
              <pc:docMk/>
              <pc:sldMasterMk cId="2320413055" sldId="2147483672"/>
              <pc:sldLayoutMk cId="3550532632" sldId="2147483676"/>
              <ac:spMk id="3"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550532632" sldId="2147483676"/>
              <ac:spMk id="4"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3602395627" sldId="2147483677"/>
          </pc:sldLayoutMkLst>
          <pc:spChg chg="mod">
            <ac:chgData name="Hunter Carter" userId="6e9f682fbf2e0608" providerId="LiveId" clId="{53198120-240A-4B32-B77C-C5B17EE41399}" dt="2025-03-17T23:14:01.712" v="1"/>
            <ac:spMkLst>
              <pc:docMk/>
              <pc:sldMasterMk cId="2320413055" sldId="2147483672"/>
              <pc:sldLayoutMk cId="3602395627" sldId="2147483677"/>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602395627" sldId="2147483677"/>
              <ac:spMk id="3"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602395627" sldId="2147483677"/>
              <ac:spMk id="4"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602395627" sldId="2147483677"/>
              <ac:spMk id="5"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602395627" sldId="2147483677"/>
              <ac:spMk id="6"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3098935621" sldId="2147483680"/>
          </pc:sldLayoutMkLst>
          <pc:spChg chg="mod">
            <ac:chgData name="Hunter Carter" userId="6e9f682fbf2e0608" providerId="LiveId" clId="{53198120-240A-4B32-B77C-C5B17EE41399}" dt="2025-03-17T23:14:01.712" v="1"/>
            <ac:spMkLst>
              <pc:docMk/>
              <pc:sldMasterMk cId="2320413055" sldId="2147483672"/>
              <pc:sldLayoutMk cId="3098935621" sldId="2147483680"/>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098935621" sldId="2147483680"/>
              <ac:spMk id="3"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098935621" sldId="2147483680"/>
              <ac:spMk id="4"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519381511" sldId="2147483681"/>
          </pc:sldLayoutMkLst>
          <pc:spChg chg="mod">
            <ac:chgData name="Hunter Carter" userId="6e9f682fbf2e0608" providerId="LiveId" clId="{53198120-240A-4B32-B77C-C5B17EE41399}" dt="2025-03-17T23:14:01.712" v="1"/>
            <ac:spMkLst>
              <pc:docMk/>
              <pc:sldMasterMk cId="2320413055" sldId="2147483672"/>
              <pc:sldLayoutMk cId="519381511" sldId="2147483681"/>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519381511" sldId="2147483681"/>
              <ac:spMk id="3"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519381511" sldId="2147483681"/>
              <ac:spMk id="4" creationId="{00000000-0000-0000-0000-000000000000}"/>
            </ac:spMkLst>
          </pc:spChg>
        </pc:sldLayoutChg>
        <pc:sldLayoutChg chg="modSp">
          <pc:chgData name="Hunter Carter" userId="6e9f682fbf2e0608" providerId="LiveId" clId="{53198120-240A-4B32-B77C-C5B17EE41399}" dt="2025-03-17T23:14:01.712" v="1"/>
          <pc:sldLayoutMkLst>
            <pc:docMk/>
            <pc:sldMasterMk cId="2320413055" sldId="2147483672"/>
            <pc:sldLayoutMk cId="360472477" sldId="2147483683"/>
          </pc:sldLayoutMkLst>
          <pc:spChg chg="mod">
            <ac:chgData name="Hunter Carter" userId="6e9f682fbf2e0608" providerId="LiveId" clId="{53198120-240A-4B32-B77C-C5B17EE41399}" dt="2025-03-17T23:14:01.712" v="1"/>
            <ac:spMkLst>
              <pc:docMk/>
              <pc:sldMasterMk cId="2320413055" sldId="2147483672"/>
              <pc:sldLayoutMk cId="360472477" sldId="2147483683"/>
              <ac:spMk id="2" creationId="{00000000-0000-0000-0000-000000000000}"/>
            </ac:spMkLst>
          </pc:spChg>
          <pc:spChg chg="mod">
            <ac:chgData name="Hunter Carter" userId="6e9f682fbf2e0608" providerId="LiveId" clId="{53198120-240A-4B32-B77C-C5B17EE41399}" dt="2025-03-17T23:14:01.712" v="1"/>
            <ac:spMkLst>
              <pc:docMk/>
              <pc:sldMasterMk cId="2320413055" sldId="2147483672"/>
              <pc:sldLayoutMk cId="360472477" sldId="2147483683"/>
              <ac:spMk id="3"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79EF3C-CE9E-4A89-BF9F-2F14E749D34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3684601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9EF3C-CE9E-4A89-BF9F-2F14E749D34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328165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79EF3C-CE9E-4A89-BF9F-2F14E749D34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626875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79EF3C-CE9E-4A89-BF9F-2F14E749D34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208323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79EF3C-CE9E-4A89-BF9F-2F14E749D34B}"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112294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79EF3C-CE9E-4A89-BF9F-2F14E749D34B}"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84581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79EF3C-CE9E-4A89-BF9F-2F14E749D34B}"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832317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C79EF3C-CE9E-4A89-BF9F-2F14E749D34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4000459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BC79EF3C-CE9E-4A89-BF9F-2F14E749D34B}"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15955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9EF3C-CE9E-4A89-BF9F-2F14E749D34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103683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9EF3C-CE9E-4A89-BF9F-2F14E749D34B}"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0D32C8-122A-49D2-B321-58C59BDC20A6}" type="slidenum">
              <a:rPr lang="en-US" smtClean="0"/>
              <a:t>‹#›</a:t>
            </a:fld>
            <a:endParaRPr lang="en-US"/>
          </a:p>
        </p:txBody>
      </p:sp>
    </p:spTree>
    <p:extLst>
      <p:ext uri="{BB962C8B-B14F-4D97-AF65-F5344CB8AC3E}">
        <p14:creationId xmlns:p14="http://schemas.microsoft.com/office/powerpoint/2010/main" val="46598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BC79EF3C-CE9E-4A89-BF9F-2F14E749D34B}" type="datetimeFigureOut">
              <a:rPr lang="en-US" smtClean="0"/>
              <a:t>3/17/2025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DA0D32C8-122A-49D2-B321-58C59BDC20A6}" type="slidenum">
              <a:rPr lang="en-US" smtClean="0"/>
              <a:t>‹#›</a:t>
            </a:fld>
            <a:endParaRPr lang="en-US"/>
          </a:p>
        </p:txBody>
      </p:sp>
    </p:spTree>
    <p:extLst>
      <p:ext uri="{BB962C8B-B14F-4D97-AF65-F5344CB8AC3E}">
        <p14:creationId xmlns:p14="http://schemas.microsoft.com/office/powerpoint/2010/main" val="31778927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8FCCE4E-7355-6D97-8045-F2F8F4AAD4C1}"/>
              </a:ext>
            </a:extLst>
          </p:cNvPr>
          <p:cNvSpPr/>
          <p:nvPr/>
        </p:nvSpPr>
        <p:spPr>
          <a:xfrm>
            <a:off x="30053277" y="7871393"/>
            <a:ext cx="11826240" cy="9991083"/>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1E5927-7903-DAB4-B521-F5EC81AD6B5E}"/>
              </a:ext>
            </a:extLst>
          </p:cNvPr>
          <p:cNvSpPr txBox="1"/>
          <p:nvPr/>
        </p:nvSpPr>
        <p:spPr>
          <a:xfrm>
            <a:off x="3870960" y="1120138"/>
            <a:ext cx="36149280" cy="5016758"/>
          </a:xfrm>
          <a:prstGeom prst="rect">
            <a:avLst/>
          </a:prstGeom>
          <a:solidFill>
            <a:schemeClr val="bg1"/>
          </a:solidFill>
        </p:spPr>
        <p:txBody>
          <a:bodyPr wrap="square" rtlCol="0">
            <a:spAutoFit/>
          </a:bodyPr>
          <a:lstStyle/>
          <a:p>
            <a:pPr algn="ctr"/>
            <a:r>
              <a:rPr lang="en-US" sz="8000" b="1" dirty="0">
                <a:latin typeface="Times New Roman" panose="02020603050405020304" pitchFamily="18" charset="0"/>
                <a:cs typeface="Times New Roman" panose="02020603050405020304" pitchFamily="18" charset="0"/>
              </a:rPr>
              <a:t>Breaking Passwords: Analyzing Cracking Techniques </a:t>
            </a:r>
          </a:p>
          <a:p>
            <a:pPr algn="ctr"/>
            <a:r>
              <a:rPr lang="en-US" sz="8000" b="1" dirty="0">
                <a:latin typeface="Times New Roman" panose="02020603050405020304" pitchFamily="18" charset="0"/>
                <a:cs typeface="Times New Roman" panose="02020603050405020304" pitchFamily="18" charset="0"/>
              </a:rPr>
              <a:t>and Security Best Practices</a:t>
            </a:r>
          </a:p>
          <a:p>
            <a:pPr algn="ctr"/>
            <a:r>
              <a:rPr lang="en-US" sz="8000" dirty="0">
                <a:latin typeface="Times New Roman" panose="02020603050405020304" pitchFamily="18" charset="0"/>
                <a:cs typeface="Times New Roman" panose="02020603050405020304" pitchFamily="18" charset="0"/>
              </a:rPr>
              <a:t>Hunter Carter</a:t>
            </a:r>
          </a:p>
          <a:p>
            <a:pPr algn="ctr"/>
            <a:r>
              <a:rPr lang="en-US" sz="8000" dirty="0">
                <a:latin typeface="Times New Roman" panose="02020603050405020304" pitchFamily="18" charset="0"/>
                <a:cs typeface="Times New Roman" panose="02020603050405020304" pitchFamily="18" charset="0"/>
              </a:rPr>
              <a:t>The University of North Georgia</a:t>
            </a:r>
          </a:p>
        </p:txBody>
      </p:sp>
      <p:sp>
        <p:nvSpPr>
          <p:cNvPr id="9" name="TextBox 8">
            <a:extLst>
              <a:ext uri="{FF2B5EF4-FFF2-40B4-BE49-F238E27FC236}">
                <a16:creationId xmlns:a16="http://schemas.microsoft.com/office/drawing/2014/main" id="{A1BBC5F2-0BA8-21A7-C5FE-E791F460BEEC}"/>
              </a:ext>
            </a:extLst>
          </p:cNvPr>
          <p:cNvSpPr txBox="1"/>
          <p:nvPr/>
        </p:nvSpPr>
        <p:spPr>
          <a:xfrm>
            <a:off x="2011680" y="7566799"/>
            <a:ext cx="11826240" cy="22949872"/>
          </a:xfrm>
          <a:prstGeom prst="rect">
            <a:avLst/>
          </a:prstGeom>
          <a:solidFill>
            <a:srgbClr val="156082"/>
          </a:solidFill>
          <a:ln>
            <a:solidFill>
              <a:schemeClr val="accent1"/>
            </a:solidFill>
          </a:ln>
        </p:spPr>
        <p:txBody>
          <a:bodyPr wrap="square" rtlCol="0">
            <a:spAutoFit/>
          </a:bodyPr>
          <a:lstStyle/>
          <a:p>
            <a:pPr algn="ctr" rtl="0">
              <a:buNone/>
            </a:pPr>
            <a:r>
              <a:rPr lang="en-US" sz="3600" b="1" i="0" u="none" strike="noStrike" dirty="0">
                <a:solidFill>
                  <a:schemeClr val="bg2"/>
                </a:solidFill>
                <a:effectLst/>
                <a:latin typeface="Cambria" panose="02040503050406030204" pitchFamily="18" charset="0"/>
                <a:ea typeface="Cambria" panose="02040503050406030204" pitchFamily="18" charset="0"/>
              </a:rPr>
              <a:t>ABSTRACT</a:t>
            </a:r>
            <a:endParaRPr lang="en-US" sz="3600" b="0" dirty="0">
              <a:solidFill>
                <a:schemeClr val="bg2"/>
              </a:solidFill>
              <a:effectLst/>
              <a:latin typeface="Cambria" panose="02040503050406030204" pitchFamily="18" charset="0"/>
              <a:ea typeface="Cambria" panose="02040503050406030204" pitchFamily="18" charset="0"/>
            </a:endParaRPr>
          </a:p>
          <a:p>
            <a:pPr indent="457200" rtl="0">
              <a:buNone/>
            </a:pPr>
            <a:r>
              <a:rPr lang="en-US" sz="2800" b="0" i="0" u="none" strike="noStrike" dirty="0">
                <a:solidFill>
                  <a:schemeClr val="bg2"/>
                </a:solidFill>
                <a:effectLst/>
                <a:latin typeface="Cambria" panose="02040503050406030204" pitchFamily="18" charset="0"/>
                <a:ea typeface="Cambria" panose="02040503050406030204" pitchFamily="18" charset="0"/>
              </a:rPr>
              <a:t>In an era where digital security becomes a larger priority every day, weak passwords remain as one of the largest vulnerabilities in cybersecurity. Despite advancements in authentication methods, users continue to rely on incredibly simple passwords, making them susceptible to attacks. While extensive research exists on password security, there is a gap in practical analysis comparing different password-cracking methods and their effectiveness against varying levels of password complexity.</a:t>
            </a:r>
            <a:endParaRPr lang="en-US" sz="2800" b="0" dirty="0">
              <a:solidFill>
                <a:schemeClr val="bg2"/>
              </a:solidFill>
              <a:effectLst/>
              <a:latin typeface="Cambria" panose="02040503050406030204" pitchFamily="18" charset="0"/>
              <a:ea typeface="Cambria" panose="02040503050406030204" pitchFamily="18" charset="0"/>
            </a:endParaRPr>
          </a:p>
          <a:p>
            <a:pPr rtl="0">
              <a:buNone/>
            </a:pPr>
            <a:r>
              <a:rPr lang="en-US" sz="2800" b="0" i="0" u="none" strike="noStrike" dirty="0">
                <a:solidFill>
                  <a:schemeClr val="bg2"/>
                </a:solidFill>
                <a:effectLst/>
                <a:latin typeface="Cambria" panose="02040503050406030204" pitchFamily="18" charset="0"/>
                <a:ea typeface="Cambria" panose="02040503050406030204" pitchFamily="18" charset="0"/>
              </a:rPr>
              <a:t>Passwords are not stored in plaintext; instead, they are saved in a hashed format using cryptographic algorithms such as MD5, SHA-256, and bcrypt. Since hashing is an irreversible process, attackers cannot directly retrieve the original password from the hash and rely on password-cracking tools that attempt to determine the corresponding plaintext password for a given hash. This research evaluates the efficiency of several different methods of password attack, such as dictionary, hybrid, rainbow table, brute force, and credential stuffing. The experiment will take place in a controlled testing environment, where password hashes will be generated and analyzed for their susceptibility to various attack techniques.</a:t>
            </a:r>
            <a:endParaRPr lang="en-US" sz="2800" b="0" dirty="0">
              <a:solidFill>
                <a:schemeClr val="bg2"/>
              </a:solidFill>
              <a:effectLst/>
              <a:latin typeface="Cambria" panose="02040503050406030204" pitchFamily="18" charset="0"/>
              <a:ea typeface="Cambria" panose="02040503050406030204" pitchFamily="18" charset="0"/>
            </a:endParaRPr>
          </a:p>
          <a:p>
            <a:pPr rtl="0">
              <a:spcAft>
                <a:spcPts val="800"/>
              </a:spcAft>
              <a:buNone/>
            </a:pPr>
            <a:r>
              <a:rPr lang="en-US" sz="2800" b="0" i="0" u="none" strike="noStrike" dirty="0">
                <a:solidFill>
                  <a:schemeClr val="bg2"/>
                </a:solidFill>
                <a:effectLst/>
                <a:latin typeface="Cambria" panose="02040503050406030204" pitchFamily="18" charset="0"/>
                <a:ea typeface="Cambria" panose="02040503050406030204" pitchFamily="18" charset="0"/>
              </a:rPr>
              <a:t>Analyzing how quickly each tool can crack passwords of varying complexity will demonstrate the real-world risks of using weak passwords and return results of which hashing methods are the most secure. Additionally, this research will explore modern best practices, including the use of MFA, password managers, passphrases, etc. The argument to be made is that current password policies often fail to protect users from consistently changing threats. Providing real evidence on password vulnerabilities means that this study can offer actionable recommendations for improving password security, strengthening cybersecurity defenses against unauthorized access for everyday people</a:t>
            </a:r>
          </a:p>
          <a:p>
            <a:pPr>
              <a:spcAft>
                <a:spcPts val="800"/>
              </a:spcAft>
            </a:pPr>
            <a:endParaRPr lang="en-US" sz="2800" dirty="0">
              <a:solidFill>
                <a:schemeClr val="bg2"/>
              </a:solidFill>
              <a:latin typeface="Cambria" panose="02040503050406030204" pitchFamily="18" charset="0"/>
              <a:ea typeface="Cambria" panose="02040503050406030204" pitchFamily="18" charset="0"/>
            </a:endParaRPr>
          </a:p>
          <a:p>
            <a:pPr algn="ctr">
              <a:spcAft>
                <a:spcPts val="800"/>
              </a:spcAft>
            </a:pPr>
            <a:r>
              <a:rPr lang="en-US" sz="36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MOTIVATION</a:t>
            </a:r>
          </a:p>
          <a:p>
            <a:pPr>
              <a:spcAft>
                <a:spcPts val="800"/>
              </a:spcAft>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With the increasing number of data breaches and cyberattacks, weak passwords continue to be a leading cause of compromised accounts. Many users still rely on easily guessable passwords or reuse them across multiple sites, making them vulnerable to attacks. This project aims to demonstrate how attackers crack passwords, highlight the risks associated with poor password practices, and provide actionable security recommendations. By raising awareness and promoting stronger authentication methods, we can help individuals and organizations better protect their sensitive information</a:t>
            </a:r>
          </a:p>
          <a:p>
            <a:pPr>
              <a:spcAft>
                <a:spcPts val="800"/>
              </a:spcAft>
            </a:pPr>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pPr algn="ctr">
              <a:spcAft>
                <a:spcPts val="800"/>
              </a:spcAft>
            </a:pPr>
            <a:r>
              <a:rPr lang="en-US" sz="36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REAL WORLD EVENT</a:t>
            </a:r>
          </a:p>
          <a:p>
            <a:pPr>
              <a:spcAft>
                <a:spcPts val="800"/>
              </a:spcAft>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The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RockYou</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 data breach was one of the most significant password leaks in history. In 2009, hackers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exploied</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 a vulnerability in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RockYou’s</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 web applications and gained access to a database containing over 32 million user passwords, all stored in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palaintext</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 with no encryption or hashing. This exposed how poor password storage practices put millions at risk and it created one of the largest password lists (used in this study) used by hackers and security researches today. This also showed that many people tend to rely on weak, common passwords.</a:t>
            </a:r>
            <a:r>
              <a:rPr lang="en-US" sz="2800" dirty="0">
                <a:latin typeface="Cambria" panose="02040503050406030204" pitchFamily="18" charset="0"/>
                <a:ea typeface="Cambria" panose="02040503050406030204" pitchFamily="18" charset="0"/>
                <a:cs typeface="Times New Roman" panose="02020603050405020304" pitchFamily="18" charset="0"/>
              </a:rPr>
              <a:t>.</a:t>
            </a:r>
          </a:p>
          <a:p>
            <a:pPr rtl="0">
              <a:spcAft>
                <a:spcPts val="800"/>
              </a:spcAft>
              <a:buNone/>
            </a:pPr>
            <a:endParaRPr lang="en-US" sz="2800" b="0" dirty="0">
              <a:effectLst/>
            </a:endParaRPr>
          </a:p>
          <a:p>
            <a:pPr>
              <a:buNone/>
            </a:pPr>
            <a:br>
              <a:rPr lang="en-US" dirty="0"/>
            </a:br>
            <a:endParaRPr lang="en-US" dirty="0"/>
          </a:p>
        </p:txBody>
      </p:sp>
      <p:sp>
        <p:nvSpPr>
          <p:cNvPr id="16" name="TextBox 15">
            <a:extLst>
              <a:ext uri="{FF2B5EF4-FFF2-40B4-BE49-F238E27FC236}">
                <a16:creationId xmlns:a16="http://schemas.microsoft.com/office/drawing/2014/main" id="{0F63A0EB-3CFE-5D28-F8F4-D92CB08E5248}"/>
              </a:ext>
            </a:extLst>
          </p:cNvPr>
          <p:cNvSpPr txBox="1"/>
          <p:nvPr/>
        </p:nvSpPr>
        <p:spPr>
          <a:xfrm>
            <a:off x="16032480" y="7566799"/>
            <a:ext cx="11826240" cy="21759803"/>
          </a:xfrm>
          <a:prstGeom prst="rect">
            <a:avLst/>
          </a:prstGeom>
          <a:solidFill>
            <a:schemeClr val="bg1"/>
          </a:solidFill>
        </p:spPr>
        <p:txBody>
          <a:bodyPr wrap="square" rtlCol="0">
            <a:spAutoFit/>
          </a:bodyPr>
          <a:lstStyle/>
          <a:p>
            <a:pPr algn="ctr"/>
            <a:r>
              <a:rPr lang="en-US" sz="3600" b="1" dirty="0">
                <a:latin typeface="Cambria" panose="02040503050406030204" pitchFamily="18" charset="0"/>
                <a:ea typeface="Cambria" panose="02040503050406030204" pitchFamily="18" charset="0"/>
                <a:cs typeface="Times New Roman" panose="02020603050405020304" pitchFamily="18" charset="0"/>
              </a:rPr>
              <a:t>Evaluating Password-Cracking Methods</a:t>
            </a:r>
          </a:p>
          <a:p>
            <a:r>
              <a:rPr lang="en-US" sz="2800" dirty="0">
                <a:latin typeface="Cambria" panose="02040503050406030204" pitchFamily="18" charset="0"/>
                <a:ea typeface="Cambria" panose="02040503050406030204" pitchFamily="18" charset="0"/>
                <a:cs typeface="Times New Roman" panose="02020603050405020304" pitchFamily="18" charset="0"/>
              </a:rPr>
              <a:t>!: </a:t>
            </a:r>
            <a:r>
              <a:rPr lang="en-US" sz="2800" b="1" dirty="0">
                <a:latin typeface="Cambria" panose="02040503050406030204" pitchFamily="18" charset="0"/>
                <a:ea typeface="Cambria" panose="02040503050406030204" pitchFamily="18" charset="0"/>
                <a:cs typeface="Times New Roman" panose="02020603050405020304" pitchFamily="18" charset="0"/>
              </a:rPr>
              <a:t>Brute Force Attacks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Attempts every possible character technique until the correct password is found.</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Short passwords are cracked almost instantly.</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Longer passwords exponentially increase cracking time.</a:t>
            </a:r>
          </a:p>
          <a:p>
            <a:r>
              <a:rPr lang="en-US" sz="2800" dirty="0">
                <a:latin typeface="Cambria" panose="02040503050406030204" pitchFamily="18" charset="0"/>
                <a:ea typeface="Cambria" panose="02040503050406030204" pitchFamily="18" charset="0"/>
                <a:cs typeface="Times New Roman" panose="02020603050405020304" pitchFamily="18" charset="0"/>
              </a:rPr>
              <a:t>2: </a:t>
            </a:r>
            <a:r>
              <a:rPr lang="en-US" sz="2800" b="1" dirty="0">
                <a:latin typeface="Cambria" panose="02040503050406030204" pitchFamily="18" charset="0"/>
                <a:ea typeface="Cambria" panose="02040503050406030204" pitchFamily="18" charset="0"/>
                <a:cs typeface="Times New Roman" panose="02020603050405020304" pitchFamily="18" charset="0"/>
              </a:rPr>
              <a:t>Dictionary Attack</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Uses a predefined list of common passwords, words, and phrases to attempt logins.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Quickly cracks weak passwords based on common words.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Variations like </a:t>
            </a:r>
            <a:r>
              <a:rPr lang="en-US" sz="2800" dirty="0" err="1">
                <a:latin typeface="Cambria" panose="02040503050406030204" pitchFamily="18" charset="0"/>
                <a:ea typeface="Cambria" panose="02040503050406030204" pitchFamily="18" charset="0"/>
                <a:cs typeface="Times New Roman" panose="02020603050405020304" pitchFamily="18" charset="0"/>
              </a:rPr>
              <a:t>P@ssword</a:t>
            </a:r>
            <a:r>
              <a:rPr lang="en-US" sz="2800" dirty="0">
                <a:latin typeface="Cambria" panose="02040503050406030204" pitchFamily="18" charset="0"/>
                <a:ea typeface="Cambria" panose="02040503050406030204" pitchFamily="18" charset="0"/>
                <a:cs typeface="Times New Roman" panose="02020603050405020304" pitchFamily="18" charset="0"/>
              </a:rPr>
              <a:t> and 123456 are often included in dictionary lists. </a:t>
            </a:r>
          </a:p>
          <a:p>
            <a:r>
              <a:rPr lang="en-US" sz="2800" dirty="0">
                <a:latin typeface="Cambria" panose="02040503050406030204" pitchFamily="18" charset="0"/>
                <a:ea typeface="Cambria" panose="02040503050406030204" pitchFamily="18" charset="0"/>
                <a:cs typeface="Times New Roman" panose="02020603050405020304" pitchFamily="18" charset="0"/>
              </a:rPr>
              <a:t>3: </a:t>
            </a:r>
            <a:r>
              <a:rPr lang="en-US" sz="2800" b="1" dirty="0">
                <a:latin typeface="Cambria" panose="02040503050406030204" pitchFamily="18" charset="0"/>
                <a:ea typeface="Cambria" panose="02040503050406030204" pitchFamily="18" charset="0"/>
                <a:cs typeface="Times New Roman" panose="02020603050405020304" pitchFamily="18" charset="0"/>
              </a:rPr>
              <a:t>Rainbow Table Attack</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Uses precomputed hash values to crack hashed passwords efficiently.</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Extremely fast against unsalted passwords.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Ineffective when salting is used before hashing.</a:t>
            </a:r>
          </a:p>
          <a:p>
            <a:r>
              <a:rPr lang="en-US" sz="2800" dirty="0">
                <a:latin typeface="Cambria" panose="02040503050406030204" pitchFamily="18" charset="0"/>
                <a:ea typeface="Cambria" panose="02040503050406030204" pitchFamily="18" charset="0"/>
                <a:cs typeface="Times New Roman" panose="02020603050405020304" pitchFamily="18" charset="0"/>
              </a:rPr>
              <a:t>4:  </a:t>
            </a:r>
            <a:r>
              <a:rPr lang="en-US" sz="2800" b="1" dirty="0">
                <a:latin typeface="Cambria" panose="02040503050406030204" pitchFamily="18" charset="0"/>
                <a:ea typeface="Cambria" panose="02040503050406030204" pitchFamily="18" charset="0"/>
                <a:cs typeface="Times New Roman" panose="02020603050405020304" pitchFamily="18" charset="0"/>
              </a:rPr>
              <a:t>Hybrid Attack</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Combines Brute-Force and dictionary attacks by modifying dictionary words with numbers or symbols. </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Can crack slightly more complex passwords, especially ones with predictable substitutions. </a:t>
            </a:r>
          </a:p>
          <a:p>
            <a:pPr marL="457200" indent="-457200">
              <a:buFont typeface="Arial" panose="020B0604020202020204" pitchFamily="34" charset="0"/>
              <a:buChar char="•"/>
            </a:pPr>
            <a:endParaRPr lang="en-US" sz="2800" dirty="0">
              <a:latin typeface="Cambria" panose="02040503050406030204" pitchFamily="18" charset="0"/>
              <a:ea typeface="Cambria" panose="02040503050406030204" pitchFamily="18" charset="0"/>
              <a:cs typeface="Times New Roman" panose="02020603050405020304" pitchFamily="18" charset="0"/>
            </a:endParaRPr>
          </a:p>
          <a:p>
            <a:endParaRPr lang="en-US" sz="2800" dirty="0">
              <a:latin typeface="Cambria" panose="02040503050406030204" pitchFamily="18" charset="0"/>
              <a:ea typeface="Cambria" panose="02040503050406030204" pitchFamily="18" charset="0"/>
              <a:cs typeface="Times New Roman" panose="02020603050405020304" pitchFamily="18" charset="0"/>
            </a:endParaRPr>
          </a:p>
          <a:p>
            <a:pPr algn="ctr"/>
            <a:r>
              <a:rPr lang="en-US" sz="3600" b="1" dirty="0">
                <a:latin typeface="Cambria" panose="02040503050406030204" pitchFamily="18" charset="0"/>
                <a:ea typeface="Cambria" panose="02040503050406030204" pitchFamily="18" charset="0"/>
                <a:cs typeface="Times New Roman" panose="02020603050405020304" pitchFamily="18" charset="0"/>
              </a:rPr>
              <a:t>Experiment Setup</a:t>
            </a:r>
          </a:p>
          <a:p>
            <a:r>
              <a:rPr lang="en-US" sz="3200" b="1" dirty="0">
                <a:latin typeface="Cambria" panose="02040503050406030204" pitchFamily="18" charset="0"/>
                <a:ea typeface="Cambria" panose="02040503050406030204" pitchFamily="18" charset="0"/>
                <a:cs typeface="Times New Roman" panose="02020603050405020304" pitchFamily="18" charset="0"/>
              </a:rPr>
              <a:t>Tools Used;</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John the Ripper &amp; Hashcat: Industry Standard password cracking tools.</a:t>
            </a:r>
          </a:p>
          <a:p>
            <a:pPr marL="457200" indent="-457200">
              <a:buFont typeface="Arial" panose="020B0604020202020204" pitchFamily="34" charset="0"/>
              <a:buChar char="•"/>
            </a:pPr>
            <a:r>
              <a:rPr lang="en-US" sz="2800" dirty="0" err="1">
                <a:latin typeface="Cambria" panose="02040503050406030204" pitchFamily="18" charset="0"/>
                <a:ea typeface="Cambria" panose="02040503050406030204" pitchFamily="18" charset="0"/>
                <a:cs typeface="Times New Roman" panose="02020603050405020304" pitchFamily="18" charset="0"/>
              </a:rPr>
              <a:t>RockYou</a:t>
            </a:r>
            <a:r>
              <a:rPr lang="en-US" sz="2800" dirty="0">
                <a:latin typeface="Cambria" panose="02040503050406030204" pitchFamily="18" charset="0"/>
                <a:ea typeface="Cambria" panose="02040503050406030204" pitchFamily="18" charset="0"/>
                <a:cs typeface="Times New Roman" panose="02020603050405020304" pitchFamily="18" charset="0"/>
              </a:rPr>
              <a:t> &amp; </a:t>
            </a:r>
            <a:r>
              <a:rPr lang="en-US" sz="2800" dirty="0" err="1">
                <a:latin typeface="Cambria" panose="02040503050406030204" pitchFamily="18" charset="0"/>
                <a:ea typeface="Cambria" panose="02040503050406030204" pitchFamily="18" charset="0"/>
                <a:cs typeface="Times New Roman" panose="02020603050405020304" pitchFamily="18" charset="0"/>
              </a:rPr>
              <a:t>SecLists</a:t>
            </a:r>
            <a:r>
              <a:rPr lang="en-US" sz="2800" dirty="0">
                <a:latin typeface="Cambria" panose="02040503050406030204" pitchFamily="18" charset="0"/>
                <a:ea typeface="Cambria" panose="02040503050406030204" pitchFamily="18" charset="0"/>
                <a:cs typeface="Times New Roman" panose="02020603050405020304" pitchFamily="18" charset="0"/>
              </a:rPr>
              <a:t> datasets: Contain millions of leaked password users in real attacks.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Virtualized Testing Environment: Ensured ethical and controlled testing.</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Different Hashing Algorithms: Evaluated Bcrypt, SHA-256, and MD5 for resilience. </a:t>
            </a:r>
          </a:p>
          <a:p>
            <a:pPr marL="457200" indent="-457200">
              <a:buFont typeface="Arial" panose="020B0604020202020204" pitchFamily="34" charset="0"/>
              <a:buChar char="•"/>
            </a:pPr>
            <a:endParaRPr lang="en-US" sz="3200" dirty="0">
              <a:latin typeface="Cambria" panose="02040503050406030204" pitchFamily="18" charset="0"/>
              <a:ea typeface="Cambria" panose="02040503050406030204" pitchFamily="18" charset="0"/>
              <a:cs typeface="Times New Roman" panose="02020603050405020304" pitchFamily="18" charset="0"/>
            </a:endParaRPr>
          </a:p>
          <a:p>
            <a:r>
              <a:rPr lang="en-US" sz="3200" b="1" dirty="0">
                <a:latin typeface="Cambria" panose="02040503050406030204" pitchFamily="18" charset="0"/>
                <a:ea typeface="Cambria" panose="02040503050406030204" pitchFamily="18" charset="0"/>
                <a:cs typeface="Times New Roman" panose="02020603050405020304" pitchFamily="18" charset="0"/>
              </a:rPr>
              <a:t>Testing Methodology</a:t>
            </a:r>
            <a:r>
              <a:rPr lang="en-US" sz="2800" b="1" dirty="0">
                <a:latin typeface="Cambria" panose="02040503050406030204" pitchFamily="18" charset="0"/>
                <a:ea typeface="Cambria" panose="02040503050406030204" pitchFamily="18" charset="0"/>
                <a:cs typeface="Times New Roman" panose="02020603050405020304" pitchFamily="18" charset="0"/>
              </a:rPr>
              <a:t>:</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Password Selection: a dataset of passwords were created, ranging from weak to strong, alongside a few moderately secure ones. </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Cracking Attempts: Each password was testing using different cracking methods.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Cracking time Recorded: Time taken to break each password was analyzed.</a:t>
            </a:r>
          </a:p>
          <a:p>
            <a:pPr marL="457200" indent="-457200">
              <a:buFont typeface="Arial" panose="020B0604020202020204" pitchFamily="34" charset="0"/>
              <a:buChar char="•"/>
            </a:pPr>
            <a:endParaRPr lang="en-US" sz="28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Cambria" panose="02040503050406030204" pitchFamily="18" charset="0"/>
              <a:ea typeface="Cambria" panose="02040503050406030204" pitchFamily="18" charset="0"/>
              <a:cs typeface="Times New Roman" panose="02020603050405020304" pitchFamily="18" charset="0"/>
            </a:endParaRPr>
          </a:p>
          <a:p>
            <a:pPr algn="ctr"/>
            <a:r>
              <a:rPr lang="en-US" sz="3600" b="1" dirty="0">
                <a:latin typeface="Cambria" panose="02040503050406030204" pitchFamily="18" charset="0"/>
                <a:ea typeface="Cambria" panose="02040503050406030204" pitchFamily="18" charset="0"/>
                <a:cs typeface="Times New Roman" panose="02020603050405020304" pitchFamily="18" charset="0"/>
              </a:rPr>
              <a:t>Findings/ Password Strength Analysis</a:t>
            </a:r>
          </a:p>
          <a:p>
            <a:pPr marL="571500" indent="-5715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Weak passwords (6-8 characters) were cracked in a fraction of a second</a:t>
            </a:r>
          </a:p>
          <a:p>
            <a:pPr marL="571500" indent="-5715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Moderate passwords (8-10 characters) lasted longer but were still crackable within hours.</a:t>
            </a:r>
          </a:p>
          <a:p>
            <a:pPr marL="571500" indent="-5715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Stronger passwords (12+ characters) remained uncracked in a reasonable timeframe.</a:t>
            </a:r>
          </a:p>
          <a:p>
            <a:pPr marL="571500" indent="-571500">
              <a:buFont typeface="Arial" panose="020B0604020202020204" pitchFamily="34" charset="0"/>
              <a:buChar char="•"/>
            </a:pPr>
            <a:r>
              <a:rPr lang="en-US" sz="2800" dirty="0">
                <a:latin typeface="Cambria" panose="02040503050406030204" pitchFamily="18" charset="0"/>
                <a:ea typeface="Cambria" panose="02040503050406030204" pitchFamily="18" charset="0"/>
                <a:cs typeface="Times New Roman" panose="02020603050405020304" pitchFamily="18" charset="0"/>
              </a:rPr>
              <a:t>Hashing and salting increased password security</a:t>
            </a:r>
          </a:p>
          <a:p>
            <a:endParaRPr lang="en-US" sz="28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D4F60E7-4497-4960-8314-1A6DE08ABA92}"/>
              </a:ext>
            </a:extLst>
          </p:cNvPr>
          <p:cNvSpPr txBox="1"/>
          <p:nvPr/>
        </p:nvSpPr>
        <p:spPr>
          <a:xfrm>
            <a:off x="30053280" y="17846536"/>
            <a:ext cx="11826240" cy="11480066"/>
          </a:xfrm>
          <a:prstGeom prst="rect">
            <a:avLst/>
          </a:prstGeom>
          <a:solidFill>
            <a:srgbClr val="156082"/>
          </a:solidFill>
        </p:spPr>
        <p:txBody>
          <a:bodyPr wrap="square" numCol="2" rtlCol="0">
            <a:spAutoFit/>
          </a:bodyPr>
          <a:lstStyle/>
          <a:p>
            <a:pPr algn="ctr"/>
            <a:r>
              <a:rPr lang="en-US" sz="4000" b="1" dirty="0">
                <a:solidFill>
                  <a:schemeClr val="bg2"/>
                </a:solidFill>
                <a:latin typeface="Cambria" panose="02040503050406030204" pitchFamily="18" charset="0"/>
                <a:ea typeface="Cambria" panose="02040503050406030204" pitchFamily="18" charset="0"/>
              </a:rPr>
              <a:t>Security Best Practices</a:t>
            </a:r>
          </a:p>
          <a:p>
            <a:r>
              <a:rPr lang="en-US" sz="3200" dirty="0">
                <a:solidFill>
                  <a:schemeClr val="bg2"/>
                </a:solidFill>
                <a:latin typeface="Cambria" panose="02040503050406030204" pitchFamily="18" charset="0"/>
                <a:ea typeface="Cambria" panose="02040503050406030204" pitchFamily="18" charset="0"/>
                <a:cs typeface="Times New Roman" panose="02020603050405020304" pitchFamily="18" charset="0"/>
              </a:rPr>
              <a:t>To mitigate password vulnerabilities, users and organizations should follow these key practices</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a:t>
            </a:r>
          </a:p>
          <a:p>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1: </a:t>
            </a:r>
            <a:r>
              <a:rPr lang="en-US" sz="32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Use long and complex passwords</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12+ characters</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Mix of uppercase, lowercase, numbers, and symbols</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Avoid predictable substitutions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P@sswrd</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a:t>
            </a:r>
          </a:p>
          <a:p>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2: </a:t>
            </a:r>
            <a:r>
              <a:rPr lang="en-US" sz="32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Enable Multi-Factor Authentication (MFA</a:t>
            </a:r>
            <a:r>
              <a:rPr lang="en-US" sz="28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Adds an extra layer of security beyond just a password.</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Even if a password is compromised, MFA prevents unauthorized access.</a:t>
            </a:r>
          </a:p>
          <a:p>
            <a:pPr marL="457200" indent="-457200">
              <a:buFont typeface="Arial" panose="020B0604020202020204" pitchFamily="34" charset="0"/>
              <a:buChar char="•"/>
            </a:pPr>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3: </a:t>
            </a:r>
            <a:r>
              <a:rPr lang="en-US" sz="32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Use a password manager</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Helps generate and store unique, strong passwords.</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Prevents password reuse across multiple accounts.</a:t>
            </a:r>
          </a:p>
          <a:p>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4: </a:t>
            </a:r>
            <a:r>
              <a:rPr lang="en-US" sz="32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Choose Strong Hashing Algorithms</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Bcrypt, Argon2, PBKDF2 should be used for password storage.</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Avoid outdated hashing methods such as SHA-1 or MD5.</a:t>
            </a:r>
          </a:p>
          <a:p>
            <a:endPar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endParaRPr>
          </a:p>
          <a:p>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5: </a:t>
            </a:r>
            <a:r>
              <a:rPr lang="en-US" sz="3200" b="1" dirty="0">
                <a:solidFill>
                  <a:schemeClr val="bg2"/>
                </a:solidFill>
                <a:latin typeface="Cambria" panose="02040503050406030204" pitchFamily="18" charset="0"/>
                <a:ea typeface="Cambria" panose="02040503050406030204" pitchFamily="18" charset="0"/>
                <a:cs typeface="Times New Roman" panose="02020603050405020304" pitchFamily="18" charset="0"/>
              </a:rPr>
              <a:t>Implement Account Lockout &amp;  Rate Limiting</a:t>
            </a:r>
          </a:p>
          <a:p>
            <a:pPr marL="457200" indent="-457200">
              <a:buFont typeface="Arial" panose="020B0604020202020204" pitchFamily="34" charset="0"/>
              <a:buChar char="•"/>
            </a:pP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Prevents brute-force </a:t>
            </a:r>
            <a:r>
              <a:rPr lang="en-US" sz="2800" dirty="0" err="1">
                <a:solidFill>
                  <a:schemeClr val="bg2"/>
                </a:solidFill>
                <a:latin typeface="Cambria" panose="02040503050406030204" pitchFamily="18" charset="0"/>
                <a:ea typeface="Cambria" panose="02040503050406030204" pitchFamily="18" charset="0"/>
                <a:cs typeface="Times New Roman" panose="02020603050405020304" pitchFamily="18" charset="0"/>
              </a:rPr>
              <a:t>attemps</a:t>
            </a:r>
            <a:r>
              <a:rPr lang="en-US" sz="2800" dirty="0">
                <a:solidFill>
                  <a:schemeClr val="bg2"/>
                </a:solidFill>
                <a:latin typeface="Cambria" panose="02040503050406030204" pitchFamily="18" charset="0"/>
                <a:ea typeface="Cambria" panose="02040503050406030204" pitchFamily="18" charset="0"/>
                <a:cs typeface="Times New Roman" panose="02020603050405020304" pitchFamily="18" charset="0"/>
              </a:rPr>
              <a:t> by locking an account after multiple failed logins.</a:t>
            </a:r>
          </a:p>
          <a:p>
            <a:pPr marL="457200" indent="-457200">
              <a:buFont typeface="Arial" panose="020B0604020202020204" pitchFamily="34" charset="0"/>
              <a:buChar char="•"/>
            </a:pPr>
            <a:r>
              <a:rPr lang="en-US" sz="3200" dirty="0">
                <a:solidFill>
                  <a:schemeClr val="bg2"/>
                </a:solidFill>
                <a:latin typeface="Cambria" panose="02040503050406030204" pitchFamily="18" charset="0"/>
                <a:ea typeface="Cambria" panose="02040503050406030204" pitchFamily="18" charset="0"/>
                <a:cs typeface="Times New Roman" panose="02020603050405020304" pitchFamily="18" charset="0"/>
              </a:rPr>
              <a:t>Rate limiting slows down automated attacks</a:t>
            </a:r>
            <a:r>
              <a:rPr lang="en-US" sz="3200" dirty="0">
                <a:latin typeface="Cambria" panose="02040503050406030204" pitchFamily="18" charset="0"/>
                <a:ea typeface="Cambria" panose="02040503050406030204" pitchFamily="18" charset="0"/>
                <a:cs typeface="Times New Roman" panose="02020603050405020304" pitchFamily="18" charset="0"/>
              </a:rPr>
              <a:t>.</a:t>
            </a:r>
          </a:p>
        </p:txBody>
      </p:sp>
      <p:sp>
        <p:nvSpPr>
          <p:cNvPr id="21" name="Rectangle 20">
            <a:extLst>
              <a:ext uri="{FF2B5EF4-FFF2-40B4-BE49-F238E27FC236}">
                <a16:creationId xmlns:a16="http://schemas.microsoft.com/office/drawing/2014/main" id="{6B6A456D-396A-A9E0-E077-A1AFF5188089}"/>
              </a:ext>
            </a:extLst>
          </p:cNvPr>
          <p:cNvSpPr/>
          <p:nvPr/>
        </p:nvSpPr>
        <p:spPr>
          <a:xfrm flipV="1">
            <a:off x="1066800" y="6514837"/>
            <a:ext cx="41757600" cy="214553"/>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screenshot of a computer&#10;&#10;AI-generated content may be incorrect.">
            <a:extLst>
              <a:ext uri="{FF2B5EF4-FFF2-40B4-BE49-F238E27FC236}">
                <a16:creationId xmlns:a16="http://schemas.microsoft.com/office/drawing/2014/main" id="{D7A4FBF3-7A23-E778-6233-DF8A4FAA78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2877" y="8279770"/>
            <a:ext cx="10607042" cy="3979506"/>
          </a:xfrm>
          <a:prstGeom prst="rect">
            <a:avLst/>
          </a:prstGeom>
        </p:spPr>
      </p:pic>
      <p:sp>
        <p:nvSpPr>
          <p:cNvPr id="26" name="TextBox 25">
            <a:extLst>
              <a:ext uri="{FF2B5EF4-FFF2-40B4-BE49-F238E27FC236}">
                <a16:creationId xmlns:a16="http://schemas.microsoft.com/office/drawing/2014/main" id="{5D167595-605F-87E4-6AF3-8DC09751835B}"/>
              </a:ext>
            </a:extLst>
          </p:cNvPr>
          <p:cNvSpPr txBox="1"/>
          <p:nvPr/>
        </p:nvSpPr>
        <p:spPr>
          <a:xfrm>
            <a:off x="31041973" y="12402348"/>
            <a:ext cx="10607041" cy="1077218"/>
          </a:xfrm>
          <a:prstGeom prst="rect">
            <a:avLst/>
          </a:prstGeom>
          <a:noFill/>
        </p:spPr>
        <p:txBody>
          <a:bodyPr wrap="square" rtlCol="0">
            <a:spAutoFit/>
          </a:bodyPr>
          <a:lstStyle/>
          <a:p>
            <a:r>
              <a:rPr lang="en-US" sz="3200" dirty="0">
                <a:solidFill>
                  <a:schemeClr val="bg2"/>
                </a:solidFill>
                <a:latin typeface="Cambria" panose="02040503050406030204" pitchFamily="18" charset="0"/>
                <a:ea typeface="Cambria" panose="02040503050406030204" pitchFamily="18" charset="0"/>
              </a:rPr>
              <a:t>*In these screenshots, we see weak passwords being cracked within in seconds.</a:t>
            </a:r>
          </a:p>
        </p:txBody>
      </p:sp>
      <p:pic>
        <p:nvPicPr>
          <p:cNvPr id="34" name="Picture 33" descr="A screenshot of a computer&#10;&#10;AI-generated content may be incorrect.">
            <a:extLst>
              <a:ext uri="{FF2B5EF4-FFF2-40B4-BE49-F238E27FC236}">
                <a16:creationId xmlns:a16="http://schemas.microsoft.com/office/drawing/2014/main" id="{524B7D29-55FC-A071-EFDC-247449664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2877" y="13624658"/>
            <a:ext cx="10607041" cy="3979507"/>
          </a:xfrm>
          <a:prstGeom prst="rect">
            <a:avLst/>
          </a:prstGeom>
        </p:spPr>
      </p:pic>
      <p:pic>
        <p:nvPicPr>
          <p:cNvPr id="38" name="Picture 37" descr="A blue and yellow logo&#10;&#10;AI-generated content may be incorrect.">
            <a:extLst>
              <a:ext uri="{FF2B5EF4-FFF2-40B4-BE49-F238E27FC236}">
                <a16:creationId xmlns:a16="http://schemas.microsoft.com/office/drawing/2014/main" id="{3FF04A7A-E966-23AE-7E6E-227526AC29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1680" y="29297"/>
            <a:ext cx="5090160" cy="5090160"/>
          </a:xfrm>
          <a:prstGeom prst="rect">
            <a:avLst/>
          </a:prstGeom>
        </p:spPr>
      </p:pic>
      <p:pic>
        <p:nvPicPr>
          <p:cNvPr id="40" name="Picture 39" descr="A blue and yellow text on a black background&#10;&#10;AI-generated content may be incorrect.">
            <a:extLst>
              <a:ext uri="{FF2B5EF4-FFF2-40B4-BE49-F238E27FC236}">
                <a16:creationId xmlns:a16="http://schemas.microsoft.com/office/drawing/2014/main" id="{95C74D5D-FF30-9CF6-B5C9-54AA20E561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345494" y="1779324"/>
            <a:ext cx="4924425" cy="2419350"/>
          </a:xfrm>
          <a:prstGeom prst="rect">
            <a:avLst/>
          </a:prstGeom>
        </p:spPr>
      </p:pic>
      <p:sp>
        <p:nvSpPr>
          <p:cNvPr id="42" name="TextBox 41">
            <a:extLst>
              <a:ext uri="{FF2B5EF4-FFF2-40B4-BE49-F238E27FC236}">
                <a16:creationId xmlns:a16="http://schemas.microsoft.com/office/drawing/2014/main" id="{66624AD7-ED5D-06FC-EF72-1968DCD3D65C}"/>
              </a:ext>
            </a:extLst>
          </p:cNvPr>
          <p:cNvSpPr txBox="1"/>
          <p:nvPr/>
        </p:nvSpPr>
        <p:spPr>
          <a:xfrm>
            <a:off x="30053277" y="27797760"/>
            <a:ext cx="11826240" cy="2862322"/>
          </a:xfrm>
          <a:prstGeom prst="rect">
            <a:avLst/>
          </a:prstGeom>
          <a:solidFill>
            <a:srgbClr val="156082"/>
          </a:solidFill>
        </p:spPr>
        <p:txBody>
          <a:bodyPr wrap="square" rtlCol="0">
            <a:spAutoFit/>
          </a:bodyPr>
          <a:lstStyle/>
          <a:p>
            <a:r>
              <a:rPr lang="en-US" sz="3600" b="1" dirty="0">
                <a:solidFill>
                  <a:schemeClr val="bg2"/>
                </a:solidFill>
                <a:latin typeface="Cambria" panose="02040503050406030204" pitchFamily="18" charset="0"/>
                <a:ea typeface="Cambria" panose="02040503050406030204" pitchFamily="18" charset="0"/>
              </a:rPr>
              <a:t>EXAMPLE OF STRONG PASSWORDS</a:t>
            </a:r>
          </a:p>
          <a:p>
            <a:pPr marL="571500" indent="-571500">
              <a:buFont typeface="Arial" panose="020B0604020202020204" pitchFamily="34" charset="0"/>
              <a:buChar char="•"/>
            </a:pPr>
            <a:r>
              <a:rPr lang="en-US" sz="3600" dirty="0">
                <a:solidFill>
                  <a:schemeClr val="bg2"/>
                </a:solidFill>
                <a:latin typeface="Cambria" panose="02040503050406030204" pitchFamily="18" charset="0"/>
                <a:ea typeface="Cambria" panose="02040503050406030204" pitchFamily="18" charset="0"/>
              </a:rPr>
              <a:t>G7z!mQ@9v&amp;x#2pB</a:t>
            </a:r>
          </a:p>
          <a:p>
            <a:pPr marL="571500" indent="-571500">
              <a:buFont typeface="Arial" panose="020B0604020202020204" pitchFamily="34" charset="0"/>
              <a:buChar char="•"/>
            </a:pPr>
            <a:r>
              <a:rPr lang="en-US" sz="3600" dirty="0">
                <a:solidFill>
                  <a:schemeClr val="bg2"/>
                </a:solidFill>
                <a:latin typeface="Cambria" panose="02040503050406030204" pitchFamily="18" charset="0"/>
                <a:ea typeface="Cambria" panose="02040503050406030204" pitchFamily="18" charset="0"/>
              </a:rPr>
              <a:t>jY$4M@kP!98vG#qL</a:t>
            </a:r>
          </a:p>
          <a:p>
            <a:pPr marL="571500" indent="-571500">
              <a:buFont typeface="Arial" panose="020B0604020202020204" pitchFamily="34" charset="0"/>
              <a:buChar char="•"/>
            </a:pPr>
            <a:r>
              <a:rPr lang="en-US" sz="3600" dirty="0">
                <a:solidFill>
                  <a:schemeClr val="bg2"/>
                </a:solidFill>
                <a:latin typeface="Cambria" panose="02040503050406030204" pitchFamily="18" charset="0"/>
                <a:ea typeface="Cambria" panose="02040503050406030204" pitchFamily="18" charset="0"/>
              </a:rPr>
              <a:t>A2Xp!vz9!M$g7Qk</a:t>
            </a:r>
          </a:p>
          <a:p>
            <a:r>
              <a:rPr lang="en-US" sz="3600" dirty="0">
                <a:solidFill>
                  <a:schemeClr val="accent1"/>
                </a:solidFill>
                <a:latin typeface="Cambria" panose="02040503050406030204" pitchFamily="18" charset="0"/>
                <a:ea typeface="Cambria" panose="02040503050406030204" pitchFamily="18" charset="0"/>
              </a:rPr>
              <a:t>*Stronger passwords are longer, and random, rendering w</a:t>
            </a:r>
          </a:p>
        </p:txBody>
      </p:sp>
    </p:spTree>
    <p:extLst>
      <p:ext uri="{BB962C8B-B14F-4D97-AF65-F5344CB8AC3E}">
        <p14:creationId xmlns:p14="http://schemas.microsoft.com/office/powerpoint/2010/main" val="40804862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747</TotalTime>
  <Words>1011</Words>
  <Application>Microsoft Office PowerPoint</Application>
  <PresentationFormat>Custom</PresentationFormat>
  <Paragraphs>84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Cambria</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Carter</dc:creator>
  <cp:lastModifiedBy>Hunter Carter</cp:lastModifiedBy>
  <cp:revision>1</cp:revision>
  <dcterms:created xsi:type="dcterms:W3CDTF">2025-03-17T22:42:36Z</dcterms:created>
  <dcterms:modified xsi:type="dcterms:W3CDTF">2025-03-18T11:09:45Z</dcterms:modified>
</cp:coreProperties>
</file>